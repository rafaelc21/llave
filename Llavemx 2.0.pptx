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1" r:id="rId3"/>
    <p:sldId id="262" r:id="rId4"/>
    <p:sldId id="263" r:id="rId5"/>
    <p:sldId id="260" r:id="rId6"/>
    <p:sldId id="258" r:id="rId7"/>
    <p:sldId id="256" r:id="rId8"/>
    <p:sldId id="257" r:id="rId9"/>
  </p:sldIdLst>
  <p:sldSz cx="12192000" cy="6858000"/>
  <p:notesSz cx="6858000" cy="9144000"/>
  <p:custDataLst>
    <p:tags r:id="rId10"/>
  </p:custDataLst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38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6344A7-381B-4FB1-B714-D448ADFADA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CFD68EC-1578-47E9-8B04-9991D592C5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5DCFA90-E22F-4E1D-9D60-10B373881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6C688-E9C9-4B4B-8AE2-230B27A6EB98}" type="datetimeFigureOut">
              <a:rPr lang="es-MX" smtClean="0"/>
              <a:t>27/03/2026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79FF000-10EF-43D2-8DBA-9D2BE192B8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9B0F7CA-464F-4E0C-A30B-D373071C3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D3E4A-050D-4CBF-B5D0-4D0038C4A07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15454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4AF6EA-6BEE-450D-A063-D7A180A475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49B091B-F03F-4BB6-9ADC-33CD1F002E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84D2523-8D9B-49CE-A60F-CE46229EA0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6C688-E9C9-4B4B-8AE2-230B27A6EB98}" type="datetimeFigureOut">
              <a:rPr lang="es-MX" smtClean="0"/>
              <a:t>27/03/2026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9245E79-8984-4648-97AC-E35988D2D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422695F-8C5F-473C-AF08-45A780530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D3E4A-050D-4CBF-B5D0-4D0038C4A07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996376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E6FCA5-C5E5-4747-AF2C-4A17EC0015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EE1D57F-1D43-4C87-9713-B4ACCC7ADE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61A4A33-524D-4F51-AEF8-FD680D4F4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6C688-E9C9-4B4B-8AE2-230B27A6EB98}" type="datetimeFigureOut">
              <a:rPr lang="es-MX" smtClean="0"/>
              <a:t>27/03/2026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43C9B02-1780-452A-B960-5A83D096B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FEF30C9-FAFC-4980-B7C9-A55835690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D3E4A-050D-4CBF-B5D0-4D0038C4A07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67710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D78018-9E84-45D7-AA3C-21527BBDE7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E208829-352A-4330-B1EB-D7788C8C13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3918A5D-9A49-4BC9-B448-DCB586FCC8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88DE07C-1E19-4C10-95E0-BA3B21DF90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6C688-E9C9-4B4B-8AE2-230B27A6EB98}" type="datetimeFigureOut">
              <a:rPr lang="es-MX" smtClean="0"/>
              <a:t>27/03/2026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6262444-74BB-4061-91D2-4E441E072A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7600AF5-0E95-4DCA-8701-AE6C6ECBF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D3E4A-050D-4CBF-B5D0-4D0038C4A07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630420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F14ED7-60D9-4BDF-9E37-E4B654FEB0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DBF4E8D-253A-4941-A35F-DDE5CA6D43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84BFDF6-8363-469C-A328-DB1A201CC2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D4732B67-1B6D-4846-810A-1AB878EBE9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B696CD3B-2260-481A-AEA0-6EB380F8B9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55CB209F-2F45-4C1E-9997-3D2F34E8EE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6C688-E9C9-4B4B-8AE2-230B27A6EB98}" type="datetimeFigureOut">
              <a:rPr lang="es-MX" smtClean="0"/>
              <a:t>27/03/2026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5B777C1-ADD3-4F47-B3DF-7B9A14F93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780519B-42AD-4C3C-AEA5-EA842974A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D3E4A-050D-4CBF-B5D0-4D0038C4A07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146274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D9CB50-B9C3-4AA3-83C7-78E8B07D2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9ACDD05-76FB-4AC7-B9F3-41E10885C2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6C688-E9C9-4B4B-8AE2-230B27A6EB98}" type="datetimeFigureOut">
              <a:rPr lang="es-MX" smtClean="0"/>
              <a:t>27/03/2026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CFC52655-5CEA-417D-AC9D-F0A02BFAD9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02C51AF7-7335-41B1-A16F-E8909A36B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D3E4A-050D-4CBF-B5D0-4D0038C4A07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443446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2132FDA-E3EF-437D-8F5C-CEEDF05733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6C688-E9C9-4B4B-8AE2-230B27A6EB98}" type="datetimeFigureOut">
              <a:rPr lang="es-MX" smtClean="0"/>
              <a:t>27/03/2026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D829542-764B-45AA-88BE-529F3935D5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66BC137-F599-4589-90F5-3D2C99957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D3E4A-050D-4CBF-B5D0-4D0038C4A07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552299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1B6618-C2B8-4688-A673-85270FDC3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45CA6D1-8F09-47D8-9311-4C23E86B35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51E89FE-3F53-4767-B6F0-6DB26A48A9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B1D7BB6-2B32-4B6B-874B-F06DEC72C9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6C688-E9C9-4B4B-8AE2-230B27A6EB98}" type="datetimeFigureOut">
              <a:rPr lang="es-MX" smtClean="0"/>
              <a:t>27/03/2026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0D5604E-9997-4546-A655-16EB517E4F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0488C78-2F7F-4D07-8D78-D1761E7CF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D3E4A-050D-4CBF-B5D0-4D0038C4A07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104143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3A681C-9E9E-4370-8DF7-CAE0507775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440CAB1-8A61-45BB-9614-5AB2CCA054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BF16BF3-5CE4-4A92-BA01-D8E2881684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FF81E4F-4A9D-4B5A-A261-66C3A6014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6C688-E9C9-4B4B-8AE2-230B27A6EB98}" type="datetimeFigureOut">
              <a:rPr lang="es-MX" smtClean="0"/>
              <a:t>27/03/2026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C527B39-726C-4293-AE3D-4E045EA02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EBB9F6E-94CA-4B86-A744-D1C7F2FF3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D3E4A-050D-4CBF-B5D0-4D0038C4A07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228948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E34BA9-5EC0-4495-A617-08F616E8C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29769D7-071C-4FA1-A380-F643855F24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B95C247-E0BA-4A90-BA60-4BD6CF4CB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6C688-E9C9-4B4B-8AE2-230B27A6EB98}" type="datetimeFigureOut">
              <a:rPr lang="es-MX" smtClean="0"/>
              <a:t>27/03/2026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B9BAB2C-0E3E-4DBA-9E13-31B8DCF46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DB6C526-462C-4828-A9C3-3B5BDD0CC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D3E4A-050D-4CBF-B5D0-4D0038C4A07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400720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76CA074-B0ED-4DAA-AD06-7E47F6CC31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F90358C-2C23-4ED9-B712-A8664E83EF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9FF85AB-779A-466B-9FBE-306D24DEF1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6C688-E9C9-4B4B-8AE2-230B27A6EB98}" type="datetimeFigureOut">
              <a:rPr lang="es-MX" smtClean="0"/>
              <a:t>27/03/2026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DC71565-B1BA-4EF8-B60A-B4C2D0B85C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247E0E4-A41A-45F1-8596-B32CB33DD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D3E4A-050D-4CBF-B5D0-4D0038C4A07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373637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289BD58E-3BDE-4E94-AF68-1A360CDE4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527A9F7-34F1-4E39-BB70-385166B28B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37B7DE5-A55A-4DCD-80C2-955ED8FAED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76C688-E9C9-4B4B-8AE2-230B27A6EB98}" type="datetimeFigureOut">
              <a:rPr lang="es-MX" smtClean="0"/>
              <a:t>27/03/2026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395D699-7B2C-4429-8B19-C3C5EFC6F7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DF968BD-C0F3-4EB6-A441-D0DD74AE75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4D3E4A-050D-4CBF-B5D0-4D0038C4A07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390614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1.png"/><Relationship Id="rId3" Type="http://schemas.openxmlformats.org/officeDocument/2006/relationships/hyperlink" Target="https://vidadesconocida.wordpress.com/2010/05/25/lanzan-nuevo-messenger/" TargetMode="External"/><Relationship Id="rId7" Type="http://schemas.openxmlformats.org/officeDocument/2006/relationships/hyperlink" Target="https://descargas.intef.es/cedec/proyectoedia/FP/ipe1/contenidos/ipe1_parada9/identidad_digital.html" TargetMode="External"/><Relationship Id="rId12" Type="http://schemas.openxmlformats.org/officeDocument/2006/relationships/image" Target="../media/image10.jpe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hyperlink" Target="https://orientaeltemple.blogspot.com/2015/12/proyecto-educativo-derecho-oir.html" TargetMode="External"/><Relationship Id="rId5" Type="http://schemas.openxmlformats.org/officeDocument/2006/relationships/hyperlink" Target="https://digitalrevolution.info/2021/06/03/un-e-id-europeo-seguro-y-de-confianza/" TargetMode="External"/><Relationship Id="rId10" Type="http://schemas.openxmlformats.org/officeDocument/2006/relationships/image" Target="../media/image9.jpg"/><Relationship Id="rId4" Type="http://schemas.openxmlformats.org/officeDocument/2006/relationships/image" Target="../media/image6.png"/><Relationship Id="rId9" Type="http://schemas.openxmlformats.org/officeDocument/2006/relationships/hyperlink" Target="https://consultoria-estrategica.blogspot.com/2018/03/consentimiento-inequivoco.html" TargetMode="Externa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B9261567-95C4-4874-9AD7-7828BF92A4AC}"/>
              </a:ext>
            </a:extLst>
          </p:cNvPr>
          <p:cNvSpPr/>
          <p:nvPr/>
        </p:nvSpPr>
        <p:spPr>
          <a:xfrm>
            <a:off x="645703" y="416467"/>
            <a:ext cx="23059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/>
              <a:t>1. Modelo de Singapur</a:t>
            </a:r>
          </a:p>
        </p:txBody>
      </p:sp>
      <p:pic>
        <p:nvPicPr>
          <p:cNvPr id="5122" name="Picture 2" descr="https://app.singpass.gov.sg/static/login_shortcut.png">
            <a:extLst>
              <a:ext uri="{FF2B5EF4-FFF2-40B4-BE49-F238E27FC236}">
                <a16:creationId xmlns:a16="http://schemas.microsoft.com/office/drawing/2014/main" id="{24290698-BAD3-4968-84DA-F3EB7EBDB7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664" y="956734"/>
            <a:ext cx="4246341" cy="23537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6D9FA20C-3F8D-42D3-BEED-22387D9AF00E}"/>
              </a:ext>
            </a:extLst>
          </p:cNvPr>
          <p:cNvSpPr/>
          <p:nvPr/>
        </p:nvSpPr>
        <p:spPr>
          <a:xfrm>
            <a:off x="460664" y="3907135"/>
            <a:ext cx="482253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b="1" dirty="0"/>
              <a:t>Concepto central</a:t>
            </a:r>
          </a:p>
          <a:p>
            <a:r>
              <a:rPr lang="es-MX" dirty="0"/>
              <a:t>Singapur construyó un modelo centrado en:</a:t>
            </a:r>
          </a:p>
          <a:p>
            <a:r>
              <a:rPr lang="es-MX" b="1" dirty="0"/>
              <a:t>Experiencia del usuario + acceso unificado</a:t>
            </a:r>
            <a:endParaRPr lang="es-MX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82505D1B-4FA0-4372-8E8A-0B61A9267BB5}"/>
              </a:ext>
            </a:extLst>
          </p:cNvPr>
          <p:cNvSpPr/>
          <p:nvPr/>
        </p:nvSpPr>
        <p:spPr>
          <a:xfrm>
            <a:off x="460664" y="5052536"/>
            <a:ext cx="4958003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b="1" dirty="0"/>
              <a:t>Componentes clave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b="1" dirty="0" err="1"/>
              <a:t>Singpass</a:t>
            </a:r>
            <a:r>
              <a:rPr lang="es-MX" dirty="0"/>
              <a:t> → </a:t>
            </a:r>
            <a:r>
              <a:rPr lang="es-MX" dirty="0" err="1"/>
              <a:t>login</a:t>
            </a:r>
            <a:r>
              <a:rPr lang="es-MX" dirty="0"/>
              <a:t> único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b="1" dirty="0" err="1"/>
              <a:t>MyInfo</a:t>
            </a:r>
            <a:r>
              <a:rPr lang="es-MX" dirty="0"/>
              <a:t> → datos precargados para formularios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b="1" dirty="0"/>
              <a:t>Verificación biométrica</a:t>
            </a:r>
            <a:r>
              <a:rPr lang="es-MX" dirty="0"/>
              <a:t> (rostro)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b="1" dirty="0"/>
              <a:t>Consentimiento para compartir datos</a:t>
            </a:r>
            <a:endParaRPr lang="es-MX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8A4A066F-DA5D-4ABF-B0A5-062D3DA993C6}"/>
              </a:ext>
            </a:extLst>
          </p:cNvPr>
          <p:cNvSpPr/>
          <p:nvPr/>
        </p:nvSpPr>
        <p:spPr>
          <a:xfrm>
            <a:off x="6526384" y="416467"/>
            <a:ext cx="40573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/>
              <a:t>2. Modelo de Identidad Digital de Estonia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EE8AE8BA-92D3-4EFB-B10D-F0A83C6626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4184" y="748078"/>
            <a:ext cx="5609637" cy="3227401"/>
          </a:xfrm>
          <a:prstGeom prst="rect">
            <a:avLst/>
          </a:prstGeom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02674BFD-7C8F-4728-BF9E-375FB30F4EC2}"/>
              </a:ext>
            </a:extLst>
          </p:cNvPr>
          <p:cNvSpPr/>
          <p:nvPr/>
        </p:nvSpPr>
        <p:spPr>
          <a:xfrm>
            <a:off x="5938737" y="4064000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s-MX" b="1" dirty="0"/>
              <a:t>Concepto central</a:t>
            </a:r>
          </a:p>
          <a:p>
            <a:r>
              <a:rPr lang="es-MX" dirty="0"/>
              <a:t>Estonia construyó un </a:t>
            </a:r>
            <a:r>
              <a:rPr lang="es-MX" b="1" dirty="0"/>
              <a:t>Estado digital completo</a:t>
            </a:r>
            <a:r>
              <a:rPr lang="es-MX" dirty="0"/>
              <a:t>, donde la identidad digital es la base de TODO.</a:t>
            </a:r>
          </a:p>
          <a:p>
            <a:r>
              <a:rPr lang="es-MX" dirty="0"/>
              <a:t>Es </a:t>
            </a:r>
            <a:r>
              <a:rPr lang="es-MX" b="1" dirty="0"/>
              <a:t>infraestructura nacional de confianza</a:t>
            </a:r>
            <a:endParaRPr lang="es-MX" dirty="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24325A2A-54EE-4A46-92A4-1A8A4091700D}"/>
              </a:ext>
            </a:extLst>
          </p:cNvPr>
          <p:cNvSpPr/>
          <p:nvPr/>
        </p:nvSpPr>
        <p:spPr>
          <a:xfrm>
            <a:off x="5938736" y="5380672"/>
            <a:ext cx="605006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b="1"/>
              <a:t>Firma Digital (clave del modelo)</a:t>
            </a:r>
          </a:p>
          <a:p>
            <a:r>
              <a:rPr lang="es-MX"/>
              <a:t>Legalmente vinculante en toda la UE </a:t>
            </a:r>
          </a:p>
          <a:p>
            <a:r>
              <a:rPr lang="es-MX"/>
              <a:t>Basada en PKI (infraestructura de clave pública)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87D3DC5B-3498-4A3F-851A-F84A3AC65B65}"/>
              </a:ext>
            </a:extLst>
          </p:cNvPr>
          <p:cNvSpPr/>
          <p:nvPr/>
        </p:nvSpPr>
        <p:spPr>
          <a:xfrm>
            <a:off x="5434184" y="1197507"/>
            <a:ext cx="2184400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1600" b="1" dirty="0"/>
              <a:t>Firma Digital (clave del modelo)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1600" dirty="0"/>
              <a:t>Legalmente vinculante en toda la UE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1600" dirty="0"/>
              <a:t>Basada en PKI (infraestructura de clave pública)</a:t>
            </a:r>
          </a:p>
        </p:txBody>
      </p:sp>
    </p:spTree>
    <p:extLst>
      <p:ext uri="{BB962C8B-B14F-4D97-AF65-F5344CB8AC3E}">
        <p14:creationId xmlns:p14="http://schemas.microsoft.com/office/powerpoint/2010/main" val="38810750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DCBA2BF4-03DD-419A-9BB1-58D759435FD4}"/>
              </a:ext>
            </a:extLst>
          </p:cNvPr>
          <p:cNvSpPr/>
          <p:nvPr/>
        </p:nvSpPr>
        <p:spPr>
          <a:xfrm>
            <a:off x="584200" y="337235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s-MX" dirty="0"/>
              <a:t>3. Modelo Europeo (</a:t>
            </a:r>
            <a:r>
              <a:rPr lang="es-MX" dirty="0" err="1"/>
              <a:t>eIDAS</a:t>
            </a:r>
            <a:r>
              <a:rPr lang="es-MX" dirty="0"/>
              <a:t>) — Federado con identidad soberana</a:t>
            </a:r>
          </a:p>
        </p:txBody>
      </p:sp>
      <p:pic>
        <p:nvPicPr>
          <p:cNvPr id="3076" name="Picture 4" descr="Vidos | The EUDI Wallet: What It Means for European Citizens">
            <a:extLst>
              <a:ext uri="{FF2B5EF4-FFF2-40B4-BE49-F238E27FC236}">
                <a16:creationId xmlns:a16="http://schemas.microsoft.com/office/drawing/2014/main" id="{FEE0DCDF-7177-4B68-97F4-F9116909E3E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925" r="-6237"/>
          <a:stretch/>
        </p:blipFill>
        <p:spPr bwMode="auto">
          <a:xfrm>
            <a:off x="329569" y="1185427"/>
            <a:ext cx="3954563" cy="3124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EU Digital Identity Wallet Home - EU Digital Identity Wallet -">
            <a:extLst>
              <a:ext uri="{FF2B5EF4-FFF2-40B4-BE49-F238E27FC236}">
                <a16:creationId xmlns:a16="http://schemas.microsoft.com/office/drawing/2014/main" id="{20AD19FB-5DA8-4B45-A706-35F30DD4B7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5462" y="983566"/>
            <a:ext cx="1857905" cy="37522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FFF63BD5-CEAA-4F84-82DA-247777EA51F0}"/>
              </a:ext>
            </a:extLst>
          </p:cNvPr>
          <p:cNvSpPr/>
          <p:nvPr/>
        </p:nvSpPr>
        <p:spPr>
          <a:xfrm>
            <a:off x="7064439" y="408000"/>
            <a:ext cx="40575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/>
              <a:t>4. </a:t>
            </a:r>
            <a:r>
              <a:rPr lang="pt-BR" dirty="0" err="1"/>
              <a:t>India</a:t>
            </a:r>
            <a:r>
              <a:rPr lang="pt-BR" dirty="0"/>
              <a:t> (</a:t>
            </a:r>
            <a:r>
              <a:rPr lang="pt-BR" dirty="0" err="1"/>
              <a:t>Aadhaar</a:t>
            </a:r>
            <a:r>
              <a:rPr lang="pt-BR" dirty="0"/>
              <a:t>) — Centralizado </a:t>
            </a:r>
            <a:r>
              <a:rPr lang="pt-BR" dirty="0" err="1"/>
              <a:t>masivo</a:t>
            </a:r>
            <a:endParaRPr lang="es-MX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088C28D4-CCE1-41FC-A595-6B6F1ECB393A}"/>
              </a:ext>
            </a:extLst>
          </p:cNvPr>
          <p:cNvSpPr txBox="1"/>
          <p:nvPr/>
        </p:nvSpPr>
        <p:spPr>
          <a:xfrm>
            <a:off x="329569" y="4295507"/>
            <a:ext cx="414979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b="1" dirty="0"/>
              <a:t>Concepto</a:t>
            </a:r>
          </a:p>
          <a:p>
            <a:r>
              <a:rPr lang="es-MX" dirty="0"/>
              <a:t>Identidad interoperable entre países</a:t>
            </a:r>
            <a:br>
              <a:rPr lang="es-MX" dirty="0"/>
            </a:br>
            <a:r>
              <a:rPr lang="es-MX" dirty="0"/>
              <a:t>Basado en regulación (no solo tecnología)</a:t>
            </a:r>
          </a:p>
          <a:p>
            <a:endParaRPr lang="es-MX" dirty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E9CD773D-E384-438C-BB6F-561A6D0C1431}"/>
              </a:ext>
            </a:extLst>
          </p:cNvPr>
          <p:cNvSpPr/>
          <p:nvPr/>
        </p:nvSpPr>
        <p:spPr>
          <a:xfrm>
            <a:off x="1684867" y="5289602"/>
            <a:ext cx="5528733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b="1" dirty="0"/>
              <a:t>Características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Identidades nacionales interoperables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Marco legal común (</a:t>
            </a:r>
            <a:r>
              <a:rPr lang="es-MX" b="1" dirty="0" err="1"/>
              <a:t>eIDAS</a:t>
            </a:r>
            <a:r>
              <a:rPr lang="es-MX" dirty="0"/>
              <a:t>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Nueva evolución: </a:t>
            </a:r>
            <a:r>
              <a:rPr lang="es-MX" b="1" dirty="0" err="1"/>
              <a:t>European</a:t>
            </a:r>
            <a:r>
              <a:rPr lang="es-MX" b="1" dirty="0"/>
              <a:t> Digital </a:t>
            </a:r>
            <a:r>
              <a:rPr lang="es-MX" b="1" dirty="0" err="1"/>
              <a:t>Identity</a:t>
            </a:r>
            <a:r>
              <a:rPr lang="es-MX" b="1" dirty="0"/>
              <a:t> </a:t>
            </a:r>
            <a:r>
              <a:rPr lang="es-MX" b="1" dirty="0" err="1"/>
              <a:t>Wallet</a:t>
            </a:r>
            <a:r>
              <a:rPr lang="es-MX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Firma electrónica reconocida en toda la UE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763A43E9-DFC7-41DD-8ED8-FAB8F2533952}"/>
              </a:ext>
            </a:extLst>
          </p:cNvPr>
          <p:cNvSpPr/>
          <p:nvPr/>
        </p:nvSpPr>
        <p:spPr>
          <a:xfrm>
            <a:off x="6841067" y="1295653"/>
            <a:ext cx="49276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b="1" dirty="0"/>
              <a:t>Concepto</a:t>
            </a:r>
          </a:p>
          <a:p>
            <a:r>
              <a:rPr lang="es-MX" dirty="0"/>
              <a:t>👉 Identidad única nacional basada en biometría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DE67AFDA-0349-43DF-BF01-F8CADF0A5484}"/>
              </a:ext>
            </a:extLst>
          </p:cNvPr>
          <p:cNvSpPr/>
          <p:nvPr/>
        </p:nvSpPr>
        <p:spPr>
          <a:xfrm>
            <a:off x="6862296" y="2329827"/>
            <a:ext cx="5164666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b="1" dirty="0"/>
              <a:t>Características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Base central con más de 1,000 millones de personas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Biometría: huella + iris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API de autenticación masiva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Uso en subsidios, banca, servicios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C0DFD1A2-6C70-4C68-839E-D686E11CA7BD}"/>
              </a:ext>
            </a:extLst>
          </p:cNvPr>
          <p:cNvSpPr/>
          <p:nvPr/>
        </p:nvSpPr>
        <p:spPr>
          <a:xfrm>
            <a:off x="6862296" y="3972341"/>
            <a:ext cx="500013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b="1" dirty="0"/>
              <a:t>Arquitectura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Altamente centralizada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Validación en tiempo real contra base nacional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5AD53BC4-1083-4466-9AEB-498FED0133FA}"/>
              </a:ext>
            </a:extLst>
          </p:cNvPr>
          <p:cNvSpPr/>
          <p:nvPr/>
        </p:nvSpPr>
        <p:spPr>
          <a:xfrm>
            <a:off x="6985495" y="5229410"/>
            <a:ext cx="475373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dirty="0"/>
              <a:t>Arquitectura Altamente centralizada</a:t>
            </a:r>
          </a:p>
          <a:p>
            <a:r>
              <a:rPr lang="es-MX" dirty="0"/>
              <a:t>Validación en tiempo real contra base nacional</a:t>
            </a:r>
          </a:p>
        </p:txBody>
      </p:sp>
    </p:spTree>
    <p:extLst>
      <p:ext uri="{BB962C8B-B14F-4D97-AF65-F5344CB8AC3E}">
        <p14:creationId xmlns:p14="http://schemas.microsoft.com/office/powerpoint/2010/main" val="32074510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E593938F-E2B5-4B50-BDEA-AF8683347E75}"/>
              </a:ext>
            </a:extLst>
          </p:cNvPr>
          <p:cNvSpPr/>
          <p:nvPr/>
        </p:nvSpPr>
        <p:spPr>
          <a:xfrm>
            <a:off x="496689" y="475734"/>
            <a:ext cx="43067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/>
              <a:t>5. Estados Unidos — Fragmentado / privado</a:t>
            </a:r>
          </a:p>
        </p:txBody>
      </p:sp>
      <p:sp>
        <p:nvSpPr>
          <p:cNvPr id="5" name="AutoShape 2" descr="Diagrams of All The OpenID Connect Flows | by Takahiko Kawasaki | Medium">
            <a:extLst>
              <a:ext uri="{FF2B5EF4-FFF2-40B4-BE49-F238E27FC236}">
                <a16:creationId xmlns:a16="http://schemas.microsoft.com/office/drawing/2014/main" id="{640FE734-AFE8-4A51-8A60-E58A950F03E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MX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C11A86E3-3FD5-4FBD-832A-072CFA32088D}"/>
              </a:ext>
            </a:extLst>
          </p:cNvPr>
          <p:cNvSpPr/>
          <p:nvPr/>
        </p:nvSpPr>
        <p:spPr>
          <a:xfrm>
            <a:off x="829733" y="1234701"/>
            <a:ext cx="408093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b="1" dirty="0"/>
              <a:t>Concepto</a:t>
            </a:r>
          </a:p>
          <a:p>
            <a:r>
              <a:rPr lang="es-MX" dirty="0"/>
              <a:t>No hay identidad nacional única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6BDE9F96-4D2C-48DA-8651-25B9DDC0EFDF}"/>
              </a:ext>
            </a:extLst>
          </p:cNvPr>
          <p:cNvSpPr/>
          <p:nvPr/>
        </p:nvSpPr>
        <p:spPr>
          <a:xfrm>
            <a:off x="736600" y="2136338"/>
            <a:ext cx="4080934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b="1" dirty="0"/>
              <a:t>Características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Identidad distribuida en: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dirty="0"/>
              <a:t>Google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dirty="0"/>
              <a:t>Apple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dirty="0"/>
              <a:t>Facebook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dirty="0"/>
              <a:t>Bancos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Uso de estándares: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dirty="0"/>
              <a:t>OAuth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dirty="0" err="1"/>
              <a:t>OpenID</a:t>
            </a:r>
            <a:r>
              <a:rPr lang="es-MX" dirty="0"/>
              <a:t> </a:t>
            </a:r>
            <a:r>
              <a:rPr lang="es-MX" dirty="0" err="1"/>
              <a:t>Connect</a:t>
            </a:r>
            <a:r>
              <a:rPr lang="es-MX" dirty="0"/>
              <a:t> 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AD78C705-A08C-494B-A2B6-5125AAA7E3A6}"/>
              </a:ext>
            </a:extLst>
          </p:cNvPr>
          <p:cNvSpPr/>
          <p:nvPr/>
        </p:nvSpPr>
        <p:spPr>
          <a:xfrm>
            <a:off x="643467" y="5089603"/>
            <a:ext cx="42672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b="1" dirty="0"/>
              <a:t>Arquitectura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Federada pero privada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Cada proveedor es un “</a:t>
            </a:r>
            <a:r>
              <a:rPr lang="es-MX" dirty="0" err="1"/>
              <a:t>identity</a:t>
            </a:r>
            <a:r>
              <a:rPr lang="es-MX" dirty="0"/>
              <a:t> </a:t>
            </a:r>
            <a:r>
              <a:rPr lang="es-MX" dirty="0" err="1"/>
              <a:t>provider</a:t>
            </a:r>
            <a:r>
              <a:rPr lang="es-MX" dirty="0"/>
              <a:t>”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E09AED58-2A8B-4C37-897B-B5561510EECE}"/>
              </a:ext>
            </a:extLst>
          </p:cNvPr>
          <p:cNvSpPr/>
          <p:nvPr/>
        </p:nvSpPr>
        <p:spPr>
          <a:xfrm>
            <a:off x="6002868" y="475734"/>
            <a:ext cx="559646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dirty="0"/>
              <a:t>6. Reino Unido (GOV.UK </a:t>
            </a:r>
            <a:r>
              <a:rPr lang="es-MX" dirty="0" err="1"/>
              <a:t>Verify</a:t>
            </a:r>
            <a:r>
              <a:rPr lang="es-MX" dirty="0"/>
              <a:t> / </a:t>
            </a:r>
            <a:r>
              <a:rPr lang="es-MX" dirty="0" err="1"/>
              <a:t>One</a:t>
            </a:r>
            <a:r>
              <a:rPr lang="es-MX" dirty="0"/>
              <a:t> </a:t>
            </a:r>
            <a:r>
              <a:rPr lang="es-MX" dirty="0" err="1"/>
              <a:t>Login</a:t>
            </a:r>
            <a:r>
              <a:rPr lang="es-MX" dirty="0"/>
              <a:t>) — Federación controlada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59D93BB4-780D-41CA-BBC4-0926E1E43108}"/>
              </a:ext>
            </a:extLst>
          </p:cNvPr>
          <p:cNvSpPr/>
          <p:nvPr/>
        </p:nvSpPr>
        <p:spPr>
          <a:xfrm>
            <a:off x="6316133" y="1419367"/>
            <a:ext cx="419946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b="1" dirty="0"/>
              <a:t>Concepto</a:t>
            </a:r>
          </a:p>
          <a:p>
            <a:r>
              <a:rPr lang="es-MX" dirty="0"/>
              <a:t>Gobierno no guarda toda la identidad</a:t>
            </a:r>
            <a:br>
              <a:rPr lang="es-MX" dirty="0"/>
            </a:br>
            <a:r>
              <a:rPr lang="es-MX" dirty="0"/>
              <a:t>Usa proveedores certificados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3FE6D1BD-67F1-4903-9667-11E35A3C8FEA}"/>
              </a:ext>
            </a:extLst>
          </p:cNvPr>
          <p:cNvSpPr/>
          <p:nvPr/>
        </p:nvSpPr>
        <p:spPr>
          <a:xfrm>
            <a:off x="6316133" y="2828834"/>
            <a:ext cx="499533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b="1" dirty="0"/>
              <a:t>Características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 err="1"/>
              <a:t>Identity</a:t>
            </a:r>
            <a:r>
              <a:rPr lang="es-MX" dirty="0"/>
              <a:t> </a:t>
            </a:r>
            <a:r>
              <a:rPr lang="es-MX" dirty="0" err="1"/>
              <a:t>providers</a:t>
            </a:r>
            <a:r>
              <a:rPr lang="es-MX" dirty="0"/>
              <a:t> autorizados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Gobierno consume identidad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Evolución a </a:t>
            </a:r>
            <a:r>
              <a:rPr lang="es-MX" b="1" dirty="0" err="1"/>
              <a:t>One</a:t>
            </a:r>
            <a:r>
              <a:rPr lang="es-MX" b="1" dirty="0"/>
              <a:t> </a:t>
            </a:r>
            <a:r>
              <a:rPr lang="es-MX" b="1" dirty="0" err="1"/>
              <a:t>Login</a:t>
            </a:r>
            <a:endParaRPr lang="es-MX" dirty="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9BDD1DA0-628D-426A-AC77-FC8101FEFD38}"/>
              </a:ext>
            </a:extLst>
          </p:cNvPr>
          <p:cNvSpPr/>
          <p:nvPr/>
        </p:nvSpPr>
        <p:spPr>
          <a:xfrm>
            <a:off x="6316133" y="4485435"/>
            <a:ext cx="506306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b="1" dirty="0"/>
              <a:t>Arquitectura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Federada con control estatal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Similar a OAuth pero regulado</a:t>
            </a:r>
          </a:p>
        </p:txBody>
      </p:sp>
    </p:spTree>
    <p:extLst>
      <p:ext uri="{BB962C8B-B14F-4D97-AF65-F5344CB8AC3E}">
        <p14:creationId xmlns:p14="http://schemas.microsoft.com/office/powerpoint/2010/main" val="1784299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C4DC0B41-1A5D-4899-92E6-B8B087E0A54D}"/>
              </a:ext>
            </a:extLst>
          </p:cNvPr>
          <p:cNvSpPr/>
          <p:nvPr/>
        </p:nvSpPr>
        <p:spPr>
          <a:xfrm>
            <a:off x="720289" y="475734"/>
            <a:ext cx="451995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7. </a:t>
            </a:r>
            <a:r>
              <a:rPr lang="en-US" dirty="0" err="1"/>
              <a:t>Modelo</a:t>
            </a:r>
            <a:r>
              <a:rPr lang="en-US" dirty="0"/>
              <a:t> Self-Sovereign Identity (SSI / Web3)</a:t>
            </a:r>
            <a:endParaRPr lang="es-MX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A5229147-C930-40AA-96A5-6E4761708113}"/>
              </a:ext>
            </a:extLst>
          </p:cNvPr>
          <p:cNvSpPr/>
          <p:nvPr/>
        </p:nvSpPr>
        <p:spPr>
          <a:xfrm>
            <a:off x="720289" y="1150035"/>
            <a:ext cx="409786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b="1" dirty="0"/>
              <a:t>Concepto</a:t>
            </a:r>
          </a:p>
          <a:p>
            <a:r>
              <a:rPr lang="es-MX" dirty="0"/>
              <a:t>El usuario es dueño total de su identidad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019F67B5-493E-48A3-AA22-C0665726AC06}"/>
              </a:ext>
            </a:extLst>
          </p:cNvPr>
          <p:cNvSpPr/>
          <p:nvPr/>
        </p:nvSpPr>
        <p:spPr>
          <a:xfrm>
            <a:off x="720289" y="2101335"/>
            <a:ext cx="4672978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b="1" dirty="0"/>
              <a:t>Características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 err="1"/>
              <a:t>Wallet</a:t>
            </a:r>
            <a:r>
              <a:rPr lang="es-MX" dirty="0"/>
              <a:t> de identidad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Credenciales verificables (VC)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DID (identificadores descentralizados)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No depende de una base central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D7936BA4-BEDD-44BC-A448-BA43F65A6DC7}"/>
              </a:ext>
            </a:extLst>
          </p:cNvPr>
          <p:cNvSpPr/>
          <p:nvPr/>
        </p:nvSpPr>
        <p:spPr>
          <a:xfrm>
            <a:off x="720289" y="3911602"/>
            <a:ext cx="483384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b="1" dirty="0"/>
              <a:t>Arquitectura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Descentralizada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Basada en criptografía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E9551FDD-E1B6-4C3E-9B07-EE80F1ABC093}"/>
              </a:ext>
            </a:extLst>
          </p:cNvPr>
          <p:cNvSpPr/>
          <p:nvPr/>
        </p:nvSpPr>
        <p:spPr>
          <a:xfrm>
            <a:off x="6687889" y="475734"/>
            <a:ext cx="45904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/>
              <a:t>8. China — Estatal centralizado + control fuerte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5B4C6530-72B2-4891-871A-D881EC765BA4}"/>
              </a:ext>
            </a:extLst>
          </p:cNvPr>
          <p:cNvSpPr/>
          <p:nvPr/>
        </p:nvSpPr>
        <p:spPr>
          <a:xfrm>
            <a:off x="6637244" y="1150035"/>
            <a:ext cx="483446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b="1" dirty="0"/>
              <a:t>Concepto</a:t>
            </a:r>
          </a:p>
          <a:p>
            <a:r>
              <a:rPr lang="es-MX" dirty="0"/>
              <a:t>Identidad integrada con control estatal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8C5BB3A3-4445-445E-AAB0-AAF2F7498713}"/>
              </a:ext>
            </a:extLst>
          </p:cNvPr>
          <p:cNvSpPr/>
          <p:nvPr/>
        </p:nvSpPr>
        <p:spPr>
          <a:xfrm>
            <a:off x="6637244" y="2138867"/>
            <a:ext cx="483446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b="1" dirty="0"/>
              <a:t>Características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Reconocimiento facial masivo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Integración con servicios y vigilancia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Ecosistema centralizado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BEA94E4F-3D11-4377-9C3C-40A557783854}"/>
              </a:ext>
            </a:extLst>
          </p:cNvPr>
          <p:cNvSpPr/>
          <p:nvPr/>
        </p:nvSpPr>
        <p:spPr>
          <a:xfrm>
            <a:off x="6637244" y="3578663"/>
            <a:ext cx="483384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b="1" dirty="0" err="1"/>
              <a:t>Arquitectura</a:t>
            </a:r>
            <a:endParaRPr lang="pt-BR" b="1" dirty="0"/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Centralizada + </a:t>
            </a:r>
            <a:r>
              <a:rPr lang="pt-BR" dirty="0" err="1"/>
              <a:t>monitoreo</a:t>
            </a:r>
            <a:r>
              <a:rPr lang="pt-BR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Altamente integrada</a:t>
            </a:r>
          </a:p>
        </p:txBody>
      </p:sp>
    </p:spTree>
    <p:extLst>
      <p:ext uri="{BB962C8B-B14F-4D97-AF65-F5344CB8AC3E}">
        <p14:creationId xmlns:p14="http://schemas.microsoft.com/office/powerpoint/2010/main" val="22459057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3CA945FB-6560-4A0F-90B1-170A641417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3603339"/>
              </p:ext>
            </p:extLst>
          </p:nvPr>
        </p:nvGraphicFramePr>
        <p:xfrm>
          <a:off x="751114" y="1143120"/>
          <a:ext cx="10856168" cy="3830093"/>
        </p:xfrm>
        <a:graphic>
          <a:graphicData uri="http://schemas.openxmlformats.org/drawingml/2006/table">
            <a:tbl>
              <a:tblPr/>
              <a:tblGrid>
                <a:gridCol w="2714042">
                  <a:extLst>
                    <a:ext uri="{9D8B030D-6E8A-4147-A177-3AD203B41FA5}">
                      <a16:colId xmlns:a16="http://schemas.microsoft.com/office/drawing/2014/main" val="930640757"/>
                    </a:ext>
                  </a:extLst>
                </a:gridCol>
                <a:gridCol w="2714042">
                  <a:extLst>
                    <a:ext uri="{9D8B030D-6E8A-4147-A177-3AD203B41FA5}">
                      <a16:colId xmlns:a16="http://schemas.microsoft.com/office/drawing/2014/main" val="2360765179"/>
                    </a:ext>
                  </a:extLst>
                </a:gridCol>
                <a:gridCol w="2714042">
                  <a:extLst>
                    <a:ext uri="{9D8B030D-6E8A-4147-A177-3AD203B41FA5}">
                      <a16:colId xmlns:a16="http://schemas.microsoft.com/office/drawing/2014/main" val="1757089789"/>
                    </a:ext>
                  </a:extLst>
                </a:gridCol>
                <a:gridCol w="2714042">
                  <a:extLst>
                    <a:ext uri="{9D8B030D-6E8A-4147-A177-3AD203B41FA5}">
                      <a16:colId xmlns:a16="http://schemas.microsoft.com/office/drawing/2014/main" val="3058812044"/>
                    </a:ext>
                  </a:extLst>
                </a:gridCol>
              </a:tblGrid>
              <a:tr h="392830">
                <a:tc>
                  <a:txBody>
                    <a:bodyPr/>
                    <a:lstStyle/>
                    <a:p>
                      <a:r>
                        <a:rPr lang="es-MX" dirty="0"/>
                        <a:t>Modelo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/>
                        <a:t>Tipo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/>
                        <a:t>Fortaleza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/>
                        <a:t>Riesgo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2759570"/>
                  </a:ext>
                </a:extLst>
              </a:tr>
              <a:tr h="687453">
                <a:tc>
                  <a:txBody>
                    <a:bodyPr/>
                    <a:lstStyle/>
                    <a:p>
                      <a:r>
                        <a:rPr lang="es-MX" dirty="0"/>
                        <a:t>Estonia 🇪🇪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Federado estatal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/>
                        <a:t>Interoperabilidad + confianza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/>
                        <a:t>Complejidad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7627011"/>
                  </a:ext>
                </a:extLst>
              </a:tr>
              <a:tr h="392830">
                <a:tc>
                  <a:txBody>
                    <a:bodyPr/>
                    <a:lstStyle/>
                    <a:p>
                      <a:r>
                        <a:rPr lang="es-MX" dirty="0"/>
                        <a:t>Singapur 🇸🇬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Plataforma UX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/>
                        <a:t>Experiencia + adopción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/>
                        <a:t>Menor profundidad legal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2577057"/>
                  </a:ext>
                </a:extLst>
              </a:tr>
              <a:tr h="392830">
                <a:tc>
                  <a:txBody>
                    <a:bodyPr/>
                    <a:lstStyle/>
                    <a:p>
                      <a:r>
                        <a:rPr lang="es-MX" dirty="0"/>
                        <a:t>Europa 🇪🇺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/>
                        <a:t>Federado legal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/>
                        <a:t>Escala internacional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/>
                        <a:t>Burocracia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0967957"/>
                  </a:ext>
                </a:extLst>
              </a:tr>
              <a:tr h="392830">
                <a:tc>
                  <a:txBody>
                    <a:bodyPr/>
                    <a:lstStyle/>
                    <a:p>
                      <a:r>
                        <a:rPr lang="es-MX" dirty="0"/>
                        <a:t>India 🇮🇳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/>
                        <a:t>Centralizado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/>
                        <a:t>Escala masiva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/>
                        <a:t>Riesgo de concentración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1854297"/>
                  </a:ext>
                </a:extLst>
              </a:tr>
              <a:tr h="392830">
                <a:tc>
                  <a:txBody>
                    <a:bodyPr/>
                    <a:lstStyle/>
                    <a:p>
                      <a:r>
                        <a:rPr lang="es-MX" dirty="0"/>
                        <a:t>USA 🇺🇸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/>
                        <a:t>Privado federado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/>
                        <a:t>Flexibilidad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/>
                        <a:t>Fragmentación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60082967"/>
                  </a:ext>
                </a:extLst>
              </a:tr>
              <a:tr h="392830">
                <a:tc>
                  <a:txBody>
                    <a:bodyPr/>
                    <a:lstStyle/>
                    <a:p>
                      <a:r>
                        <a:rPr lang="es-MX" dirty="0"/>
                        <a:t>UK 🇬🇧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/>
                        <a:t>Federado regulado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/>
                        <a:t>Balance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Dependencia terceros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7279659"/>
                  </a:ext>
                </a:extLst>
              </a:tr>
              <a:tr h="392830">
                <a:tc>
                  <a:txBody>
                    <a:bodyPr/>
                    <a:lstStyle/>
                    <a:p>
                      <a:r>
                        <a:rPr lang="es-MX"/>
                        <a:t>SSI 🌐</a:t>
                      </a:r>
                      <a:endParaRPr lang="es-MX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/>
                        <a:t>Descentralizado</a:t>
                      </a:r>
                      <a:endParaRPr lang="es-MX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/>
                        <a:t>Control total usuario</a:t>
                      </a:r>
                      <a:endParaRPr lang="es-MX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Madurez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65830106"/>
                  </a:ext>
                </a:extLst>
              </a:tr>
              <a:tr h="392830">
                <a:tc>
                  <a:txBody>
                    <a:bodyPr/>
                    <a:lstStyle/>
                    <a:p>
                      <a:r>
                        <a:rPr lang="es-MX" dirty="0"/>
                        <a:t>China 🇨🇳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Centralizado estatal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Control total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Privacidad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243129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817736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ángulo 36">
            <a:extLst>
              <a:ext uri="{FF2B5EF4-FFF2-40B4-BE49-F238E27FC236}">
                <a16:creationId xmlns:a16="http://schemas.microsoft.com/office/drawing/2014/main" id="{31CD463A-BF28-462A-A2E5-B59B733487B3}"/>
              </a:ext>
            </a:extLst>
          </p:cNvPr>
          <p:cNvSpPr/>
          <p:nvPr/>
        </p:nvSpPr>
        <p:spPr>
          <a:xfrm>
            <a:off x="8771754" y="1481667"/>
            <a:ext cx="2506094" cy="4210320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F083F8D8-1CCF-4AF4-8958-89C82CEDAC72}"/>
              </a:ext>
            </a:extLst>
          </p:cNvPr>
          <p:cNvSpPr/>
          <p:nvPr/>
        </p:nvSpPr>
        <p:spPr>
          <a:xfrm>
            <a:off x="7016296" y="1488371"/>
            <a:ext cx="1742633" cy="4210320"/>
          </a:xfrm>
          <a:prstGeom prst="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C4A47CD4-A9DE-4250-8555-6712B2C7D220}"/>
              </a:ext>
            </a:extLst>
          </p:cNvPr>
          <p:cNvSpPr/>
          <p:nvPr/>
        </p:nvSpPr>
        <p:spPr>
          <a:xfrm>
            <a:off x="4871282" y="1481667"/>
            <a:ext cx="2145014" cy="2111864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9516B1FF-B74F-407B-B79A-3D66AB568586}"/>
              </a:ext>
            </a:extLst>
          </p:cNvPr>
          <p:cNvSpPr/>
          <p:nvPr/>
        </p:nvSpPr>
        <p:spPr>
          <a:xfrm>
            <a:off x="4895428" y="3593531"/>
            <a:ext cx="2112401" cy="2098456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F1B9C63C-2884-4765-A775-00DAC070408E}"/>
              </a:ext>
            </a:extLst>
          </p:cNvPr>
          <p:cNvSpPr/>
          <p:nvPr/>
        </p:nvSpPr>
        <p:spPr>
          <a:xfrm>
            <a:off x="2530235" y="1481667"/>
            <a:ext cx="2365193" cy="4210320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D6DB8BEC-2DBA-4E8D-8CFE-CD947E454066}"/>
              </a:ext>
            </a:extLst>
          </p:cNvPr>
          <p:cNvSpPr/>
          <p:nvPr/>
        </p:nvSpPr>
        <p:spPr>
          <a:xfrm>
            <a:off x="622133" y="2352933"/>
            <a:ext cx="13857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b="1" dirty="0"/>
              <a:t>CIUDADANO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431C6A1D-40F2-41BC-80DC-48000F07F93E}"/>
              </a:ext>
            </a:extLst>
          </p:cNvPr>
          <p:cNvSpPr/>
          <p:nvPr/>
        </p:nvSpPr>
        <p:spPr>
          <a:xfrm>
            <a:off x="2707001" y="3861532"/>
            <a:ext cx="20574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b="1" dirty="0"/>
              <a:t>IDENTIDAD DIGITAL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2004C811-889F-47DC-8986-A2B73027BFD5}"/>
              </a:ext>
            </a:extLst>
          </p:cNvPr>
          <p:cNvSpPr/>
          <p:nvPr/>
        </p:nvSpPr>
        <p:spPr>
          <a:xfrm>
            <a:off x="2800169" y="1645650"/>
            <a:ext cx="188577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b="1" dirty="0"/>
              <a:t>WALLET DIGITAL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BC040774-B43E-4A6F-AFE7-707F60835F36}"/>
              </a:ext>
            </a:extLst>
          </p:cNvPr>
          <p:cNvSpPr/>
          <p:nvPr/>
        </p:nvSpPr>
        <p:spPr>
          <a:xfrm>
            <a:off x="4871282" y="3662333"/>
            <a:ext cx="2177327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b="1" dirty="0"/>
              <a:t>CAPA DE </a:t>
            </a:r>
          </a:p>
          <a:p>
            <a:r>
              <a:rPr lang="es-MX" b="1" dirty="0"/>
              <a:t>CONSENTIMIENTO Y </a:t>
            </a:r>
          </a:p>
          <a:p>
            <a:r>
              <a:rPr lang="es-MX" b="1" dirty="0"/>
              <a:t>DELEGACIÓN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6BCF532C-6983-4C90-8C89-C13EE935DF5B}"/>
              </a:ext>
            </a:extLst>
          </p:cNvPr>
          <p:cNvSpPr/>
          <p:nvPr/>
        </p:nvSpPr>
        <p:spPr>
          <a:xfrm>
            <a:off x="4920828" y="1584095"/>
            <a:ext cx="2020361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sz="1600" b="1" dirty="0"/>
              <a:t>CAPA </a:t>
            </a:r>
          </a:p>
          <a:p>
            <a:r>
              <a:rPr lang="es-MX" sz="1600" b="1" dirty="0"/>
              <a:t>DE REPRESENTACIÓN </a:t>
            </a:r>
          </a:p>
          <a:p>
            <a:r>
              <a:rPr lang="es-MX" sz="1600" b="1" dirty="0"/>
              <a:t>(NIVELES) 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6BF4C257-E63D-43CD-9163-D85E8631071D}"/>
              </a:ext>
            </a:extLst>
          </p:cNvPr>
          <p:cNvSpPr/>
          <p:nvPr/>
        </p:nvSpPr>
        <p:spPr>
          <a:xfrm>
            <a:off x="7007829" y="2049006"/>
            <a:ext cx="17511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MX" sz="1400" b="1" dirty="0"/>
              <a:t>CAPA DE </a:t>
            </a:r>
          </a:p>
          <a:p>
            <a:pPr algn="ctr"/>
            <a:r>
              <a:rPr lang="es-MX" sz="1400" b="1" dirty="0"/>
              <a:t>INTEROPERABILIDAD</a:t>
            </a:r>
          </a:p>
          <a:p>
            <a:pPr algn="ctr"/>
            <a:r>
              <a:rPr lang="es-MX" sz="1400" b="1" dirty="0"/>
              <a:t> (API EXCHANGE)</a:t>
            </a:r>
            <a:br>
              <a:rPr lang="es-MX" sz="1400" b="1" dirty="0"/>
            </a:br>
            <a:endParaRPr lang="es-MX" sz="1400" b="1" dirty="0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39E3C047-ED87-4BB2-91C6-91D47E19640F}"/>
              </a:ext>
            </a:extLst>
          </p:cNvPr>
          <p:cNvSpPr/>
          <p:nvPr/>
        </p:nvSpPr>
        <p:spPr>
          <a:xfrm>
            <a:off x="9006637" y="2075934"/>
            <a:ext cx="203632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MX" b="1" dirty="0">
                <a:solidFill>
                  <a:schemeClr val="bg1"/>
                </a:solidFill>
              </a:rPr>
              <a:t>FUENTES DE DATOS</a:t>
            </a:r>
          </a:p>
          <a:p>
            <a:pPr algn="ctr"/>
            <a:r>
              <a:rPr lang="es-MX" b="1" dirty="0">
                <a:solidFill>
                  <a:schemeClr val="bg1"/>
                </a:solidFill>
              </a:rPr>
              <a:t> (GOBIERNO) </a:t>
            </a:r>
          </a:p>
        </p:txBody>
      </p:sp>
      <p:pic>
        <p:nvPicPr>
          <p:cNvPr id="21" name="Imagen 20">
            <a:extLst>
              <a:ext uri="{FF2B5EF4-FFF2-40B4-BE49-F238E27FC236}">
                <a16:creationId xmlns:a16="http://schemas.microsoft.com/office/drawing/2014/main" id="{F1C46D6F-374F-4381-A417-CCD3242E67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353138" y="3185582"/>
            <a:ext cx="1027341" cy="953501"/>
          </a:xfrm>
          <a:prstGeom prst="rect">
            <a:avLst/>
          </a:prstGeom>
        </p:spPr>
      </p:pic>
      <p:sp>
        <p:nvSpPr>
          <p:cNvPr id="23" name="Flecha: a la derecha 22">
            <a:extLst>
              <a:ext uri="{FF2B5EF4-FFF2-40B4-BE49-F238E27FC236}">
                <a16:creationId xmlns:a16="http://schemas.microsoft.com/office/drawing/2014/main" id="{4A3FB1DF-B1CA-4AF3-B339-699CF2270C3F}"/>
              </a:ext>
            </a:extLst>
          </p:cNvPr>
          <p:cNvSpPr/>
          <p:nvPr/>
        </p:nvSpPr>
        <p:spPr>
          <a:xfrm>
            <a:off x="1557246" y="2722265"/>
            <a:ext cx="919592" cy="146475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25" name="Imagen 24">
            <a:extLst>
              <a:ext uri="{FF2B5EF4-FFF2-40B4-BE49-F238E27FC236}">
                <a16:creationId xmlns:a16="http://schemas.microsoft.com/office/drawing/2014/main" id="{CA93C8EF-5F37-4244-900E-D3372F8744E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2916227" y="2014982"/>
            <a:ext cx="1482197" cy="988131"/>
          </a:xfrm>
          <a:prstGeom prst="rect">
            <a:avLst/>
          </a:prstGeom>
        </p:spPr>
      </p:pic>
      <p:pic>
        <p:nvPicPr>
          <p:cNvPr id="28" name="Imagen 27">
            <a:extLst>
              <a:ext uri="{FF2B5EF4-FFF2-40B4-BE49-F238E27FC236}">
                <a16:creationId xmlns:a16="http://schemas.microsoft.com/office/drawing/2014/main" id="{835823F9-167E-4E19-9AE1-264BB54A619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3300000" y="4296758"/>
            <a:ext cx="1066441" cy="1071896"/>
          </a:xfrm>
          <a:prstGeom prst="rect">
            <a:avLst/>
          </a:prstGeom>
        </p:spPr>
      </p:pic>
      <p:pic>
        <p:nvPicPr>
          <p:cNvPr id="31" name="Imagen 30">
            <a:extLst>
              <a:ext uri="{FF2B5EF4-FFF2-40B4-BE49-F238E27FC236}">
                <a16:creationId xmlns:a16="http://schemas.microsoft.com/office/drawing/2014/main" id="{EF60E978-1871-47B4-B4AD-23BD0BF3A70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9"/>
              </a:ext>
            </a:extLst>
          </a:blip>
          <a:stretch>
            <a:fillRect/>
          </a:stretch>
        </p:blipFill>
        <p:spPr>
          <a:xfrm>
            <a:off x="5384625" y="4756311"/>
            <a:ext cx="1202992" cy="765028"/>
          </a:xfrm>
          <a:prstGeom prst="rect">
            <a:avLst/>
          </a:prstGeom>
        </p:spPr>
      </p:pic>
      <p:pic>
        <p:nvPicPr>
          <p:cNvPr id="34" name="Imagen 33">
            <a:extLst>
              <a:ext uri="{FF2B5EF4-FFF2-40B4-BE49-F238E27FC236}">
                <a16:creationId xmlns:a16="http://schemas.microsoft.com/office/drawing/2014/main" id="{9DC757DE-7CB3-4A3E-A776-5B89DBACEC1D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1"/>
              </a:ext>
            </a:extLst>
          </a:blip>
          <a:srcRect l="42873" t="19256" r="25704" b="10581"/>
          <a:stretch/>
        </p:blipFill>
        <p:spPr>
          <a:xfrm>
            <a:off x="5344247" y="2386316"/>
            <a:ext cx="957038" cy="1121891"/>
          </a:xfrm>
          <a:prstGeom prst="rect">
            <a:avLst/>
          </a:prstGeom>
        </p:spPr>
      </p:pic>
      <p:pic>
        <p:nvPicPr>
          <p:cNvPr id="1028" name="Picture 4" descr="Interoperabilidad empresarial: Qué es y cómo implementarla">
            <a:extLst>
              <a:ext uri="{FF2B5EF4-FFF2-40B4-BE49-F238E27FC236}">
                <a16:creationId xmlns:a16="http://schemas.microsoft.com/office/drawing/2014/main" id="{F9804AF5-4CAF-4E15-A521-872C938588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9793" y="3232915"/>
            <a:ext cx="1703762" cy="954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Capa de enlace de datos by Marleny Pena on Prezi">
            <a:extLst>
              <a:ext uri="{FF2B5EF4-FFF2-40B4-BE49-F238E27FC236}">
                <a16:creationId xmlns:a16="http://schemas.microsoft.com/office/drawing/2014/main" id="{C79D12C8-58AC-4113-BE16-5F0EDCB07C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51283" y="3213832"/>
            <a:ext cx="2307328" cy="1295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21781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1F3BCBEB-63F6-40E0-A0CA-081B74641C80}"/>
              </a:ext>
            </a:extLst>
          </p:cNvPr>
          <p:cNvSpPr/>
          <p:nvPr/>
        </p:nvSpPr>
        <p:spPr>
          <a:xfrm>
            <a:off x="1113205" y="742035"/>
            <a:ext cx="332571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b="1" dirty="0"/>
              <a:t>CIUDADANO</a:t>
            </a:r>
          </a:p>
          <a:p>
            <a:r>
              <a:rPr lang="es-MX" dirty="0"/>
              <a:t>App móvil / Web / QR 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17D48F28-AD1F-4106-9584-B8BBE5385FEC}"/>
              </a:ext>
            </a:extLst>
          </p:cNvPr>
          <p:cNvSpPr txBox="1"/>
          <p:nvPr/>
        </p:nvSpPr>
        <p:spPr>
          <a:xfrm>
            <a:off x="664808" y="2061088"/>
            <a:ext cx="356005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/>
              <a:t>CAPA DE IDENTIDAD DIGITAL</a:t>
            </a:r>
            <a:br>
              <a:rPr lang="es-MX" dirty="0"/>
            </a:br>
            <a:r>
              <a:rPr lang="es-MX" dirty="0" err="1"/>
              <a:t>Login</a:t>
            </a:r>
            <a:r>
              <a:rPr lang="es-MX" dirty="0"/>
              <a:t> (SSO) – Llave MX</a:t>
            </a:r>
            <a:br>
              <a:rPr lang="es-MX" dirty="0"/>
            </a:br>
            <a:r>
              <a:rPr lang="es-MX" dirty="0"/>
              <a:t>MFA / Biometría - – MFA Llave MX</a:t>
            </a:r>
            <a:br>
              <a:rPr lang="es-MX" dirty="0"/>
            </a:br>
            <a:r>
              <a:rPr lang="es-MX" dirty="0"/>
              <a:t>Vinculación con identidad oficial </a:t>
            </a:r>
            <a:br>
              <a:rPr lang="es-MX" dirty="0"/>
            </a:br>
            <a:r>
              <a:rPr lang="es-MX" dirty="0"/>
              <a:t>Acceso web con QR 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B7BEB354-BB62-49BD-8F99-3C92F461232E}"/>
              </a:ext>
            </a:extLst>
          </p:cNvPr>
          <p:cNvSpPr txBox="1"/>
          <p:nvPr/>
        </p:nvSpPr>
        <p:spPr>
          <a:xfrm>
            <a:off x="971276" y="4454564"/>
            <a:ext cx="3374514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b="1" dirty="0"/>
              <a:t>WALLET DIGITAL</a:t>
            </a:r>
            <a:br>
              <a:rPr lang="es-MX" dirty="0"/>
            </a:br>
            <a:r>
              <a:rPr lang="es-MX" dirty="0"/>
              <a:t>Documentos (CURP, licencia, etc.) </a:t>
            </a:r>
          </a:p>
          <a:p>
            <a:r>
              <a:rPr lang="es-MX" dirty="0"/>
              <a:t>QR dinámico</a:t>
            </a:r>
          </a:p>
          <a:p>
            <a:r>
              <a:rPr lang="es-MX" dirty="0"/>
              <a:t>Firma electrónica</a:t>
            </a:r>
            <a:br>
              <a:rPr lang="es-MX" dirty="0"/>
            </a:br>
            <a:r>
              <a:rPr lang="es-MX" dirty="0"/>
              <a:t>Notificaciones 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2FC2259A-96F6-4340-9284-C45F577BA473}"/>
              </a:ext>
            </a:extLst>
          </p:cNvPr>
          <p:cNvSpPr txBox="1"/>
          <p:nvPr/>
        </p:nvSpPr>
        <p:spPr>
          <a:xfrm>
            <a:off x="6096000" y="807305"/>
            <a:ext cx="4703211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b="1" dirty="0"/>
              <a:t>CAPA DE CONSENTIMIENTO Y DELEGACIÓN</a:t>
            </a:r>
          </a:p>
          <a:p>
            <a:r>
              <a:rPr lang="es-MX" dirty="0"/>
              <a:t>Consentimiento por atributo</a:t>
            </a:r>
          </a:p>
          <a:p>
            <a:r>
              <a:rPr lang="es-MX" dirty="0"/>
              <a:t>Compartición selectiva de datos</a:t>
            </a:r>
          </a:p>
          <a:p>
            <a:r>
              <a:rPr lang="es-MX" dirty="0"/>
              <a:t>Motor de delegación (roles y facultades) </a:t>
            </a:r>
          </a:p>
          <a:p>
            <a:r>
              <a:rPr lang="es-MX" dirty="0"/>
              <a:t>Registro de relaciones (familia, apoderado, etc.) </a:t>
            </a:r>
          </a:p>
          <a:p>
            <a:r>
              <a:rPr lang="es-MX" dirty="0"/>
              <a:t>Auditoría y trazabilidad 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BFB8F717-E730-42CE-BB19-02B99A01EE1C}"/>
              </a:ext>
            </a:extLst>
          </p:cNvPr>
          <p:cNvSpPr/>
          <p:nvPr/>
        </p:nvSpPr>
        <p:spPr>
          <a:xfrm>
            <a:off x="6059715" y="3113674"/>
            <a:ext cx="3969183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b="1" dirty="0"/>
              <a:t>CAPA DE REPRESENTACIÓN (NIVELES) </a:t>
            </a:r>
          </a:p>
          <a:p>
            <a:r>
              <a:rPr lang="es-MX" dirty="0"/>
              <a:t>Nivel 1: Delegación simple</a:t>
            </a:r>
          </a:p>
          <a:p>
            <a:r>
              <a:rPr lang="es-MX" dirty="0"/>
              <a:t>Padre / familiar</a:t>
            </a:r>
          </a:p>
          <a:p>
            <a:r>
              <a:rPr lang="es-MX" dirty="0"/>
              <a:t>Biometría + consentimiento</a:t>
            </a:r>
          </a:p>
          <a:p>
            <a:endParaRPr lang="es-MX" dirty="0"/>
          </a:p>
          <a:p>
            <a:r>
              <a:rPr lang="es-MX" dirty="0">
                <a:solidFill>
                  <a:srgbClr val="FF0000"/>
                </a:solidFill>
              </a:rPr>
              <a:t>Nivel 2: Representación funcional</a:t>
            </a:r>
          </a:p>
          <a:p>
            <a:r>
              <a:rPr lang="es-MX" dirty="0">
                <a:solidFill>
                  <a:srgbClr val="FF0000"/>
                </a:solidFill>
              </a:rPr>
              <a:t>Abogado / apoderado limitado</a:t>
            </a:r>
          </a:p>
          <a:p>
            <a:r>
              <a:rPr lang="es-MX" dirty="0">
                <a:solidFill>
                  <a:srgbClr val="FF0000"/>
                </a:solidFill>
              </a:rPr>
              <a:t>Firma electrónica</a:t>
            </a:r>
          </a:p>
          <a:p>
            <a:endParaRPr lang="es-MX" dirty="0">
              <a:solidFill>
                <a:srgbClr val="FF0000"/>
              </a:solidFill>
            </a:endParaRPr>
          </a:p>
          <a:p>
            <a:r>
              <a:rPr lang="es-MX" dirty="0">
                <a:solidFill>
                  <a:srgbClr val="FF0000"/>
                </a:solidFill>
              </a:rPr>
              <a:t>Nivel 3: Representación legal formal</a:t>
            </a:r>
          </a:p>
          <a:p>
            <a:r>
              <a:rPr lang="es-MX" dirty="0">
                <a:solidFill>
                  <a:srgbClr val="FF0000"/>
                </a:solidFill>
              </a:rPr>
              <a:t>Apoderado legal / tutor / curador</a:t>
            </a:r>
          </a:p>
          <a:p>
            <a:r>
              <a:rPr lang="es-MX" dirty="0">
                <a:solidFill>
                  <a:srgbClr val="FF0000"/>
                </a:solidFill>
              </a:rPr>
              <a:t>Integración con fedatario </a:t>
            </a:r>
          </a:p>
        </p:txBody>
      </p:sp>
      <p:sp>
        <p:nvSpPr>
          <p:cNvPr id="2" name="Flecha: a la derecha 1">
            <a:extLst>
              <a:ext uri="{FF2B5EF4-FFF2-40B4-BE49-F238E27FC236}">
                <a16:creationId xmlns:a16="http://schemas.microsoft.com/office/drawing/2014/main" id="{D4FCAED3-EA24-43A9-B558-71FA9E172232}"/>
              </a:ext>
            </a:extLst>
          </p:cNvPr>
          <p:cNvSpPr/>
          <p:nvPr/>
        </p:nvSpPr>
        <p:spPr>
          <a:xfrm rot="5400000">
            <a:off x="2150533" y="1473200"/>
            <a:ext cx="499534" cy="59953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" name="Flecha: a la derecha 8">
            <a:extLst>
              <a:ext uri="{FF2B5EF4-FFF2-40B4-BE49-F238E27FC236}">
                <a16:creationId xmlns:a16="http://schemas.microsoft.com/office/drawing/2014/main" id="{494E490A-4614-4AEC-8D91-7D8001F7952A}"/>
              </a:ext>
            </a:extLst>
          </p:cNvPr>
          <p:cNvSpPr/>
          <p:nvPr/>
        </p:nvSpPr>
        <p:spPr>
          <a:xfrm rot="5400000">
            <a:off x="2108999" y="3550062"/>
            <a:ext cx="499534" cy="59953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0" name="Flecha: a la derecha 9">
            <a:extLst>
              <a:ext uri="{FF2B5EF4-FFF2-40B4-BE49-F238E27FC236}">
                <a16:creationId xmlns:a16="http://schemas.microsoft.com/office/drawing/2014/main" id="{D33CC965-BF75-4798-986D-F89E718E89AD}"/>
              </a:ext>
            </a:extLst>
          </p:cNvPr>
          <p:cNvSpPr/>
          <p:nvPr/>
        </p:nvSpPr>
        <p:spPr>
          <a:xfrm rot="5400000">
            <a:off x="7898072" y="2511631"/>
            <a:ext cx="499534" cy="59953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11" name="Conector: angular 10">
            <a:extLst>
              <a:ext uri="{FF2B5EF4-FFF2-40B4-BE49-F238E27FC236}">
                <a16:creationId xmlns:a16="http://schemas.microsoft.com/office/drawing/2014/main" id="{68BED761-B20D-4FCE-8FC8-90C16C7DCE31}"/>
              </a:ext>
            </a:extLst>
          </p:cNvPr>
          <p:cNvCxnSpPr>
            <a:cxnSpLocks/>
            <a:endCxn id="7" idx="1"/>
          </p:cNvCxnSpPr>
          <p:nvPr/>
        </p:nvCxnSpPr>
        <p:spPr>
          <a:xfrm rot="5400000" flipH="1" flipV="1">
            <a:off x="3527363" y="2502896"/>
            <a:ext cx="3387065" cy="1750210"/>
          </a:xfrm>
          <a:prstGeom prst="bentConnector2">
            <a:avLst/>
          </a:prstGeom>
          <a:ln w="889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Flecha: a la derecha 12">
            <a:extLst>
              <a:ext uri="{FF2B5EF4-FFF2-40B4-BE49-F238E27FC236}">
                <a16:creationId xmlns:a16="http://schemas.microsoft.com/office/drawing/2014/main" id="{B1728E56-79BF-4C89-8A04-D08391609680}"/>
              </a:ext>
            </a:extLst>
          </p:cNvPr>
          <p:cNvSpPr/>
          <p:nvPr/>
        </p:nvSpPr>
        <p:spPr>
          <a:xfrm>
            <a:off x="10870164" y="4454564"/>
            <a:ext cx="1184987" cy="59953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B4CEE57B-1C3E-4062-84A3-59D72A3DEFCB}"/>
              </a:ext>
            </a:extLst>
          </p:cNvPr>
          <p:cNvSpPr/>
          <p:nvPr/>
        </p:nvSpPr>
        <p:spPr>
          <a:xfrm>
            <a:off x="10303933" y="5698067"/>
            <a:ext cx="211667" cy="16086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8A4C0979-489E-4693-9A41-28F1645F2258}"/>
              </a:ext>
            </a:extLst>
          </p:cNvPr>
          <p:cNvSpPr txBox="1"/>
          <p:nvPr/>
        </p:nvSpPr>
        <p:spPr>
          <a:xfrm>
            <a:off x="10571700" y="5614093"/>
            <a:ext cx="12980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400" dirty="0" err="1">
                <a:solidFill>
                  <a:srgbClr val="FF0000"/>
                </a:solidFill>
              </a:rPr>
              <a:t>Siguentes</a:t>
            </a:r>
            <a:r>
              <a:rPr lang="es-MX" sz="1400" dirty="0">
                <a:solidFill>
                  <a:srgbClr val="FF0000"/>
                </a:solidFill>
              </a:rPr>
              <a:t> fases</a:t>
            </a:r>
          </a:p>
        </p:txBody>
      </p:sp>
    </p:spTree>
    <p:extLst>
      <p:ext uri="{BB962C8B-B14F-4D97-AF65-F5344CB8AC3E}">
        <p14:creationId xmlns:p14="http://schemas.microsoft.com/office/powerpoint/2010/main" val="5315180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AE0770F2-DD2C-4D6E-95A1-5FFA75D29DCF}"/>
              </a:ext>
            </a:extLst>
          </p:cNvPr>
          <p:cNvSpPr/>
          <p:nvPr/>
        </p:nvSpPr>
        <p:spPr>
          <a:xfrm>
            <a:off x="539448" y="1195408"/>
            <a:ext cx="4757231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dirty="0"/>
              <a:t>CAPA DE INTEROPERABILIDAD (API EXCHANGE)</a:t>
            </a:r>
            <a:br>
              <a:rPr lang="es-MX" dirty="0"/>
            </a:br>
            <a:r>
              <a:rPr lang="es-MX" dirty="0"/>
              <a:t>API Gateway</a:t>
            </a:r>
            <a:br>
              <a:rPr lang="es-MX" dirty="0"/>
            </a:br>
            <a:r>
              <a:rPr lang="es-MX" dirty="0"/>
              <a:t>Catálogo de servicios</a:t>
            </a:r>
            <a:br>
              <a:rPr lang="es-MX" dirty="0"/>
            </a:br>
            <a:r>
              <a:rPr lang="es-MX" dirty="0"/>
              <a:t>Orquestador de datos</a:t>
            </a:r>
            <a:br>
              <a:rPr lang="es-MX" dirty="0"/>
            </a:br>
            <a:r>
              <a:rPr lang="es-MX" dirty="0"/>
              <a:t>Seguridad (OAuth2 / </a:t>
            </a:r>
            <a:r>
              <a:rPr lang="es-MX" dirty="0" err="1"/>
              <a:t>mTLS</a:t>
            </a:r>
            <a:r>
              <a:rPr lang="es-MX" dirty="0"/>
              <a:t>)</a:t>
            </a:r>
            <a:br>
              <a:rPr lang="es-MX" dirty="0"/>
            </a:br>
            <a:r>
              <a:rPr lang="es-MX" dirty="0"/>
              <a:t>Adaptadores a sistemas </a:t>
            </a:r>
            <a:r>
              <a:rPr lang="es-MX" dirty="0" err="1"/>
              <a:t>legacy</a:t>
            </a:r>
            <a:r>
              <a:rPr lang="es-MX" dirty="0"/>
              <a:t> 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8C258956-8B2E-4EC6-B380-10D0CE4B7316}"/>
              </a:ext>
            </a:extLst>
          </p:cNvPr>
          <p:cNvSpPr/>
          <p:nvPr/>
        </p:nvSpPr>
        <p:spPr>
          <a:xfrm>
            <a:off x="6895321" y="1195408"/>
            <a:ext cx="4757231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dirty="0"/>
              <a:t>FUENTES DE DATOS (GOBIERNO) </a:t>
            </a:r>
          </a:p>
          <a:p>
            <a:r>
              <a:rPr lang="es-MX" dirty="0"/>
              <a:t>Registro civil / CURP</a:t>
            </a:r>
            <a:br>
              <a:rPr lang="es-MX" dirty="0"/>
            </a:br>
            <a:r>
              <a:rPr lang="es-MX" dirty="0"/>
              <a:t>Educación</a:t>
            </a:r>
            <a:br>
              <a:rPr lang="es-MX" dirty="0"/>
            </a:br>
            <a:r>
              <a:rPr lang="es-MX" dirty="0"/>
              <a:t>Salud</a:t>
            </a:r>
            <a:br>
              <a:rPr lang="es-MX" dirty="0"/>
            </a:br>
            <a:r>
              <a:rPr lang="es-MX" dirty="0"/>
              <a:t>Programas sociales</a:t>
            </a:r>
            <a:br>
              <a:rPr lang="es-MX" dirty="0"/>
            </a:br>
            <a:r>
              <a:rPr lang="es-MX" dirty="0"/>
              <a:t>Impuestos / SAT</a:t>
            </a:r>
            <a:br>
              <a:rPr lang="es-MX" dirty="0"/>
            </a:br>
            <a:r>
              <a:rPr lang="es-MX" dirty="0"/>
              <a:t>Movilidad </a:t>
            </a:r>
          </a:p>
        </p:txBody>
      </p:sp>
      <p:sp>
        <p:nvSpPr>
          <p:cNvPr id="6" name="Flecha: a la derecha 5">
            <a:extLst>
              <a:ext uri="{FF2B5EF4-FFF2-40B4-BE49-F238E27FC236}">
                <a16:creationId xmlns:a16="http://schemas.microsoft.com/office/drawing/2014/main" id="{73D74B70-0EB9-456E-85DC-5E2C51B2AD30}"/>
              </a:ext>
            </a:extLst>
          </p:cNvPr>
          <p:cNvSpPr/>
          <p:nvPr/>
        </p:nvSpPr>
        <p:spPr>
          <a:xfrm>
            <a:off x="5533053" y="1661536"/>
            <a:ext cx="1184987" cy="59953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60926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VDOCID" val="655e8d15-eb22-4648-b905-b1e37a0d8c7e"/>
  <p:tag name="CLASSIFICATIONTAGSETID" val="e16409a7-1700-4153-9090-3955bc2f0ae8"/>
  <p:tag name="COMPLIANCETAGSETID" val="f14fc1f1-8950-40d5-8a29-45909da947d6"/>
  <p:tag name="FILEID" val="655e8d15-eb22-4648-b905-b1e37a0d8c7e"/>
  <p:tag name="USERID" val="rcarmona.atdt"/>
  <p:tag name="TAGDATETIME" val="2026-03-27T16:07:09Z"/>
  <p:tag name="GVDATA" val="eyJPUyI6IldpbmRvd3MiLCJkb2NJRCI6IjY1NWU4ZDE1LWViMjItNDY0OC1iOTA1LWIxZTM3YTBkOGM3ZSIsImRvY1N0YXRlIjoie30iLCJwYXJlbnRMaW5lSWRzIjoiW1wiMzIyYzI1ODQtYWU2ZS00ZGVjLWJhNmEtMDZmNTBiYTQxNDA3XCJdIiwid3JpdHRlbktl"/>
  <p:tag name="GVDATA0" val="eXMiOiJbXCJndmRvY2lkXCIsXCJDbGFzc2lmaWNhdGlvblRhZ1NldElkXCIsXCJDb21wbGlhbmNlVGFnU2V0SWRcIixcIkZpbGVJZFwiLFwiVXNlcklkXCIsXCJUYWdEYXRlVGltZVwiXSIsIm5vT2ZHdkRhdGFFbnRyaWVzIjoiNSIsImxpbmVJZCI6ImU4NmM0NjJl"/>
  <p:tag name="GVDATA1" val="LTUxMGEtNGVjYi1hMTQxLTBiNjVkMmI4MTY2MSJ9"/>
  <p:tag name="GVDATA2" val="(end)"/>
</p:tagLst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1273</TotalTime>
  <Words>678</Words>
  <Application>Microsoft Office PowerPoint</Application>
  <PresentationFormat>Panorámica</PresentationFormat>
  <Paragraphs>164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rcarmona.atdt</dc:creator>
  <cp:lastModifiedBy>rcarmona.atdt</cp:lastModifiedBy>
  <cp:revision>12</cp:revision>
  <dcterms:created xsi:type="dcterms:W3CDTF">2026-03-25T22:11:44Z</dcterms:created>
  <dcterms:modified xsi:type="dcterms:W3CDTF">2026-03-27T17:14:53Z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gvdocid">
    <vt:lpwstr>655e8d15-eb22-4648-b905-b1e37a0d8c7e</vt:lpwstr>
  </property>
  <property fmtid="{D5CDD505-2E9C-101B-9397-08002B2CF9AE}" pid="3" name="ClassificationTagSetId">
    <vt:lpwstr>e16409a7-1700-4153-9090-3955bc2f0ae8</vt:lpwstr>
  </property>
  <property fmtid="{D5CDD505-2E9C-101B-9397-08002B2CF9AE}" pid="4" name="ComplianceTagSetId">
    <vt:lpwstr>f14fc1f1-8950-40d5-8a29-45909da947d6</vt:lpwstr>
  </property>
  <property fmtid="{D5CDD505-2E9C-101B-9397-08002B2CF9AE}" pid="5" name="FileId">
    <vt:lpwstr>655e8d15-eb22-4648-b905-b1e37a0d8c7e</vt:lpwstr>
  </property>
  <property fmtid="{D5CDD505-2E9C-101B-9397-08002B2CF9AE}" pid="6" name="UserId">
    <vt:lpwstr>rcarmona.atdt</vt:lpwstr>
  </property>
  <property fmtid="{D5CDD505-2E9C-101B-9397-08002B2CF9AE}" pid="7" name="TagDateTime">
    <vt:lpwstr>2026-03-27T16:07:09Z</vt:lpwstr>
  </property>
  <property fmtid="{D5CDD505-2E9C-101B-9397-08002B2CF9AE}" pid="8" name="GVData">
    <vt:lpwstr>eyJPUyI6IldpbmRvd3MiLCJkb2NJRCI6IjY1NWU4ZDE1LWViMjItNDY0OC1iOTA1LWIxZTM3YTBkOGM3ZSIsImRvY1N0YXRlIjoie30iLCJwYXJlbnRMaW5lSWRzIjoiW1wiMzIyYzI1ODQtYWU2ZS00ZGVjLWJhNmEtMDZmNTBiYTQxNDA3XCJdIiwid3JpdHRlbktl</vt:lpwstr>
  </property>
  <property fmtid="{D5CDD505-2E9C-101B-9397-08002B2CF9AE}" pid="9" name="GVData0">
    <vt:lpwstr>eXMiOiJbXCJndmRvY2lkXCIsXCJDbGFzc2lmaWNhdGlvblRhZ1NldElkXCIsXCJDb21wbGlhbmNlVGFnU2V0SWRcIixcIkZpbGVJZFwiLFwiVXNlcklkXCIsXCJUYWdEYXRlVGltZVwiXSIsIm5vT2ZHdkRhdGFFbnRyaWVzIjoiNSIsImxpbmVJZCI6ImU4NmM0NjJl</vt:lpwstr>
  </property>
  <property fmtid="{D5CDD505-2E9C-101B-9397-08002B2CF9AE}" pid="10" name="GVData1">
    <vt:lpwstr>LTUxMGEtNGVjYi1hMTQxLTBiNjVkMmI4MTY2MSJ9</vt:lpwstr>
  </property>
  <property fmtid="{D5CDD505-2E9C-101B-9397-08002B2CF9AE}" pid="11" name="GVData2">
    <vt:lpwstr>(end)</vt:lpwstr>
  </property>
</Properties>
</file>